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Halo semuanya! Selamat datang di sesi presentasi arsitektur backend project Astronova. Project ini adalah aplikasi enterprise untuk mengelola perjalanan dinas dan reimbursement karyawan. Hari ini kita akan membongkar bagaimana backend Laravel dibangun dari nol secara profesional: dari relasi tabel di database, validasi input, autentikasi token, hingga pembuktian bahwa seluruh data berjalan dinamis tanpa data palsu atau dummy hardcoded.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Untuk adik-adik SMK RPL, penting dipahami bahwa controller tidak boleh terlalu gemuk atau menampung semua logika. Di Astronova, kita memisahkan tugas: validasi diurus oleh Form Request, alur HTTP diatur oleh Controller, dan perhitungan rumit seperti selisih uang muka ditaruh di Service Layer. Ini membuat kode rapi, mudah dibaca, dan gampang diuji.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Perhatikan hubungan antar-tabel di sini. Database bukan sekadar tempat menampung teks, tapi memiliki aturan integritas. Kita menggunakan foreign key 'restrict' agar data historis perusahaan tidak hilang sengaja maupun tidak sengaja, dan 'cascade' untuk berkas-berkas lampiran. Relasi polimorfik kita gunakan agar satu tabel persetujuan bisa menyetujui dua jenis dokumen yang berbeda tanpa membuat tabel ganda.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 industri software house, konsistensi API adalah nomor satu. Frontend developer akan senang kalau format respon backend selalu sama. Di project Astronova, semua controller mewarisi BaseApiController, sehingga respon sukses pasti membawa properti success true, dan jika gagal pasti success false dengan kode status HTTP yang standar.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Contoh nyata CRUD dinamis di sini bukan sekadar insert data sederhana. Saat karyawan membuat reimbursement, sistem langsung mengambil uang muka dari database, menjumlahkan semua struk pengeluaran riil, menghitung selisihnya, dan otomatis menentukan apakah ini kurang bayar atau lebih bayar. Semuanya dilakukan otomatis oleh logika backend di dalam DB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Salah satu kesalahan pemula adalah membiarkan error 500 HTML bocor ke pengguna. Di backend Astronova, semua error ditangkap dan diubah menjadi JSON yang rapi. Selain validasi form, kita menerapkan State Machine memakai PHP Enum, sehingga status dokumen tidak bisa melompat seenaknya—misalnya dari draft langsung loncat disetujui tanpa proses pengajuan.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Keamanan adalah pilar penting backend. Kita tidak menyimpan token di teks biasa, melainkan memakai Sanctum. Siapa pun yang mencoba menembus endpoint tanpa token langsung ditolak dengan HTTP 401. Selain itu, kita mencegah celah IDOR: seorang staf biasa tidak bisa sembarangan menyetujui dokumen atas nama manajer karena identitas approver divalidasi langsung dari sesi login di server.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adalah inti perbaikan kita: kita membongkar seluruh potensi mock data. Dulu tidak ada endpoint statistik, sekarang kita membuat DashboardController dan LaporanController yang menghitung SUM dan COUNT langsung dari database MySQL. Jika ada transaksi baru yang masuk, angka statistik di dashboard detik itu juga berubah secara live. Tidak ada lagi angka statis yang dikarang-karang.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Seorang engineer profesional tidak boleh hanya mengklaim kode bekerja tanpa bukti. Di sini kita membuktikannya dengan automated testing: 99 test case dengan 525 assertions seluruhnya LULUS 100%. Kita menguji skenario positif saat data valid, skenario negatif saat validasi gagal, kondisi database kosong, hingga simulasi upload berkas PDF dan JPG asli ke disk storage.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Sebagai penutup, project backend Astronova siap menjadi fondasi aplikasi enterprise yang tangguh. Melalui project ini, kita belajar bahwa membangun backend bukan cuma soal membuat route dan controller, tetapi juga menjaga konsistensi arsitektur, keamanan data, dan integritas bisnis. Sekarang, mari kita lihat demonstrasi langsung fitur-fiturnya di layar browser. Terima kasih!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548640"/>
            <a:ext cx="73152" cy="1188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411480"/>
            <a:ext cx="10241280" cy="1371600"/>
          </a:xfrm>
          <a:prstGeom prst="rect">
            <a:avLst/>
          </a:prstGeom>
          <a:noFill/>
        </p:spPr>
        <p:txBody>
          <a:bodyPr wrap="square" lIns="0" tIns="0" rIns="0" bIns="0">
            <a:spAutoFit/>
          </a:bodyPr>
          <a:lstStyle/>
          <a:p>
            <a:pPr>
              <a:defRPr sz="1100" b="1">
                <a:solidFill>
                  <a:srgbClr val="34D399"/>
                </a:solidFill>
              </a:defRPr>
            </a:pPr>
            <a:r>
              <a:t>SLIDE 1 • BEDAH ARSITEKTUR BACKEND LARAVEL 13</a:t>
            </a:r>
          </a:p>
          <a:p>
            <a:pPr>
              <a:spcAft>
                <a:spcPts val="400"/>
              </a:spcAft>
              <a:defRPr sz="2500" b="1">
                <a:solidFill>
                  <a:srgbClr val="F8FAFC"/>
                </a:solidFill>
              </a:defRPr>
            </a:pPr>
            <a:r>
              <a:t>Sistem Backend Dinamis PT Astronova</a:t>
            </a:r>
          </a:p>
          <a:p>
            <a:pPr>
              <a:defRPr sz="1300">
                <a:solidFill>
                  <a:srgbClr val="94A3B8"/>
                </a:solidFill>
              </a:defRPr>
            </a:pPr>
            <a:r>
              <a:t>Manajemen Perjalanan Dinas, Kontrol Anggaran, &amp; Reimbursement Enterprise</a:t>
            </a:r>
          </a:p>
        </p:txBody>
      </p:sp>
      <p:sp>
        <p:nvSpPr>
          <p:cNvPr id="5" name="Rounded Rectangle 4"/>
          <p:cNvSpPr/>
          <p:nvPr/>
        </p:nvSpPr>
        <p:spPr>
          <a:xfrm>
            <a:off x="731520" y="2011680"/>
            <a:ext cx="10728655" cy="11430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73152" cy="1143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21408"/>
            <a:ext cx="10332720" cy="923544"/>
          </a:xfrm>
          <a:prstGeom prst="rect">
            <a:avLst/>
          </a:prstGeom>
          <a:noFill/>
        </p:spPr>
        <p:txBody>
          <a:bodyPr wrap="square" lIns="0" tIns="0" rIns="0" bIns="0">
            <a:spAutoFit/>
          </a:bodyPr>
          <a:lstStyle/>
          <a:p>
            <a:pPr>
              <a:spcAft>
                <a:spcPts val="200"/>
              </a:spcAft>
              <a:defRPr sz="1400" b="1">
                <a:solidFill>
                  <a:srgbClr val="38BDF8"/>
                </a:solidFill>
              </a:defRPr>
            </a:pPr>
            <a:r>
              <a:t>100% Dinamis</a:t>
            </a:r>
          </a:p>
          <a:p>
            <a:pPr>
              <a:defRPr sz="1200">
                <a:solidFill>
                  <a:srgbClr val="F8FAFC"/>
                </a:solidFill>
              </a:defRPr>
            </a:pPr>
            <a:r>
              <a:t>Seluruh data dikelola persisten oleh database MySQL tanpa mock/dummy.</a:t>
            </a:r>
          </a:p>
        </p:txBody>
      </p:sp>
      <p:sp>
        <p:nvSpPr>
          <p:cNvPr id="8" name="Rounded Rectangle 7"/>
          <p:cNvSpPr/>
          <p:nvPr/>
        </p:nvSpPr>
        <p:spPr>
          <a:xfrm>
            <a:off x="731520" y="3383280"/>
            <a:ext cx="10728655" cy="11430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383280"/>
            <a:ext cx="73152" cy="114300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493008"/>
            <a:ext cx="10332720" cy="923544"/>
          </a:xfrm>
          <a:prstGeom prst="rect">
            <a:avLst/>
          </a:prstGeom>
          <a:noFill/>
        </p:spPr>
        <p:txBody>
          <a:bodyPr wrap="square" lIns="0" tIns="0" rIns="0" bIns="0">
            <a:spAutoFit/>
          </a:bodyPr>
          <a:lstStyle/>
          <a:p>
            <a:pPr>
              <a:spcAft>
                <a:spcPts val="200"/>
              </a:spcAft>
              <a:defRPr sz="1400" b="1">
                <a:solidFill>
                  <a:srgbClr val="38BDF8"/>
                </a:solidFill>
              </a:defRPr>
            </a:pPr>
            <a:r>
              <a:t>Arsitektur Enterprise</a:t>
            </a:r>
          </a:p>
          <a:p>
            <a:pPr>
              <a:defRPr sz="1200">
                <a:solidFill>
                  <a:srgbClr val="F8FAFC"/>
                </a:solidFill>
              </a:defRPr>
            </a:pPr>
            <a:r>
              <a:t>Pemisahan Controller, Service Layer, Form Request, &amp; Eloquent ORM.</a:t>
            </a:r>
          </a:p>
        </p:txBody>
      </p:sp>
      <p:sp>
        <p:nvSpPr>
          <p:cNvPr id="11" name="Rounded Rectangle 10"/>
          <p:cNvSpPr/>
          <p:nvPr/>
        </p:nvSpPr>
        <p:spPr>
          <a:xfrm>
            <a:off x="731520" y="4754880"/>
            <a:ext cx="10728655" cy="11430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754880"/>
            <a:ext cx="73152" cy="11430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864608"/>
            <a:ext cx="10332720" cy="923544"/>
          </a:xfrm>
          <a:prstGeom prst="rect">
            <a:avLst/>
          </a:prstGeom>
          <a:noFill/>
        </p:spPr>
        <p:txBody>
          <a:bodyPr wrap="square" lIns="0" tIns="0" rIns="0" bIns="0">
            <a:spAutoFit/>
          </a:bodyPr>
          <a:lstStyle/>
          <a:p>
            <a:pPr>
              <a:spcAft>
                <a:spcPts val="200"/>
              </a:spcAft>
              <a:defRPr sz="1400" b="1">
                <a:solidFill>
                  <a:srgbClr val="38BDF8"/>
                </a:solidFill>
              </a:defRPr>
            </a:pPr>
            <a:r>
              <a:t>Teruji 100% Lulus</a:t>
            </a:r>
          </a:p>
          <a:p>
            <a:pPr>
              <a:defRPr sz="1200">
                <a:solidFill>
                  <a:srgbClr val="F8FAFC"/>
                </a:solidFill>
              </a:defRPr>
            </a:pPr>
            <a:r>
              <a:t>99 automated feature &amp; unit tests dengan 525 assertions lolos.</a:t>
            </a:r>
          </a:p>
        </p:txBody>
      </p:sp>
      <p:sp>
        <p:nvSpPr>
          <p:cNvPr id="14" name="TextBox 13"/>
          <p:cNvSpPr txBox="1"/>
          <p:nvPr/>
        </p:nvSpPr>
        <p:spPr>
          <a:xfrm>
            <a:off x="731520" y="6309360"/>
            <a:ext cx="10728655" cy="365760"/>
          </a:xfrm>
          <a:prstGeom prst="rect">
            <a:avLst/>
          </a:prstGeom>
          <a:noFill/>
        </p:spPr>
        <p:txBody>
          <a:bodyPr wrap="square" lIns="0" tIns="0" rIns="0" bIns="0">
            <a:spAutoFit/>
          </a:bodyPr>
          <a:lstStyle/>
          <a:p>
            <a:pPr>
              <a:defRPr sz="950">
                <a:solidFill>
                  <a:srgbClr val="94A3B8"/>
                </a:solidFill>
              </a:defRPr>
            </a:pPr>
            <a:r>
              <a:t>PT Astronova Enterprise • Backend Architecture Review &amp; Live Database Audit • Laravel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548640"/>
            <a:ext cx="73152" cy="1188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411480"/>
            <a:ext cx="10241280" cy="1371600"/>
          </a:xfrm>
          <a:prstGeom prst="rect">
            <a:avLst/>
          </a:prstGeom>
          <a:noFill/>
        </p:spPr>
        <p:txBody>
          <a:bodyPr wrap="square" lIns="0" tIns="0" rIns="0" bIns="0">
            <a:spAutoFit/>
          </a:bodyPr>
          <a:lstStyle/>
          <a:p>
            <a:pPr>
              <a:defRPr sz="1100" b="1">
                <a:solidFill>
                  <a:srgbClr val="34D399"/>
                </a:solidFill>
              </a:defRPr>
            </a:pPr>
            <a:r>
              <a:t>SLIDE 2 • ARSITEKTUR &amp; STRUKTUR</a:t>
            </a:r>
          </a:p>
          <a:p>
            <a:pPr>
              <a:spcAft>
                <a:spcPts val="400"/>
              </a:spcAft>
              <a:defRPr sz="2500" b="1">
                <a:solidFill>
                  <a:srgbClr val="F8FAFC"/>
                </a:solidFill>
              </a:defRPr>
            </a:pPr>
            <a:r>
              <a:t>Gambaran Arsitektur Project Laravel</a:t>
            </a:r>
          </a:p>
          <a:p>
            <a:pPr>
              <a:defRPr sz="1300">
                <a:solidFill>
                  <a:srgbClr val="94A3B8"/>
                </a:solidFill>
              </a:defRPr>
            </a:pPr>
            <a:r>
              <a:t>Clean Architecture dengan Service Layer &amp; Event Observer</a:t>
            </a:r>
          </a:p>
        </p:txBody>
      </p:sp>
      <p:sp>
        <p:nvSpPr>
          <p:cNvPr id="5" name="Rounded Rectangle 4"/>
          <p:cNvSpPr/>
          <p:nvPr/>
        </p:nvSpPr>
        <p:spPr>
          <a:xfrm>
            <a:off x="731520" y="2011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21408"/>
            <a:ext cx="10332720" cy="649224"/>
          </a:xfrm>
          <a:prstGeom prst="rect">
            <a:avLst/>
          </a:prstGeom>
          <a:noFill/>
        </p:spPr>
        <p:txBody>
          <a:bodyPr wrap="square" lIns="0" tIns="0" rIns="0" bIns="0">
            <a:spAutoFit/>
          </a:bodyPr>
          <a:lstStyle/>
          <a:p>
            <a:pPr>
              <a:spcAft>
                <a:spcPts val="200"/>
              </a:spcAft>
              <a:defRPr sz="1400" b="1">
                <a:solidFill>
                  <a:srgbClr val="38BDF8"/>
                </a:solidFill>
              </a:defRPr>
            </a:pPr>
            <a:r>
              <a:t>Routes &amp; Controllers</a:t>
            </a:r>
          </a:p>
          <a:p>
            <a:pPr>
              <a:defRPr sz="1200">
                <a:solidFill>
                  <a:srgbClr val="F8FAFC"/>
                </a:solidFill>
              </a:defRPr>
            </a:pPr>
            <a:r>
              <a:t>Pintu gerbang HTTP REST API di routes/api.php dan app/Http/Controllers/Api/*.</a:t>
            </a:r>
          </a:p>
        </p:txBody>
      </p:sp>
      <p:sp>
        <p:nvSpPr>
          <p:cNvPr id="8" name="Rounded Rectangle 7"/>
          <p:cNvSpPr/>
          <p:nvPr/>
        </p:nvSpPr>
        <p:spPr>
          <a:xfrm>
            <a:off x="731520" y="3044952"/>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044952"/>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154680"/>
            <a:ext cx="10332720" cy="649224"/>
          </a:xfrm>
          <a:prstGeom prst="rect">
            <a:avLst/>
          </a:prstGeom>
          <a:noFill/>
        </p:spPr>
        <p:txBody>
          <a:bodyPr wrap="square" lIns="0" tIns="0" rIns="0" bIns="0">
            <a:spAutoFit/>
          </a:bodyPr>
          <a:lstStyle/>
          <a:p>
            <a:pPr>
              <a:spcAft>
                <a:spcPts val="200"/>
              </a:spcAft>
              <a:defRPr sz="1400" b="1">
                <a:solidFill>
                  <a:srgbClr val="38BDF8"/>
                </a:solidFill>
              </a:defRPr>
            </a:pPr>
            <a:r>
              <a:t>Service Layer</a:t>
            </a:r>
          </a:p>
          <a:p>
            <a:pPr>
              <a:defRPr sz="1200">
                <a:solidFill>
                  <a:srgbClr val="F8FAFC"/>
                </a:solidFill>
              </a:defRPr>
            </a:pPr>
            <a:r>
              <a:t>Menampung logika bisnis kompleks, upload file storage, dan DB::transaction.</a:t>
            </a:r>
          </a:p>
        </p:txBody>
      </p:sp>
      <p:sp>
        <p:nvSpPr>
          <p:cNvPr id="11" name="Rounded Rectangle 10"/>
          <p:cNvSpPr/>
          <p:nvPr/>
        </p:nvSpPr>
        <p:spPr>
          <a:xfrm>
            <a:off x="731520" y="4078224"/>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78224"/>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87952"/>
            <a:ext cx="10332720" cy="649224"/>
          </a:xfrm>
          <a:prstGeom prst="rect">
            <a:avLst/>
          </a:prstGeom>
          <a:noFill/>
        </p:spPr>
        <p:txBody>
          <a:bodyPr wrap="square" lIns="0" tIns="0" rIns="0" bIns="0">
            <a:spAutoFit/>
          </a:bodyPr>
          <a:lstStyle/>
          <a:p>
            <a:pPr>
              <a:spcAft>
                <a:spcPts val="200"/>
              </a:spcAft>
              <a:defRPr sz="1400" b="1">
                <a:solidFill>
                  <a:srgbClr val="38BDF8"/>
                </a:solidFill>
              </a:defRPr>
            </a:pPr>
            <a:r>
              <a:t>Request &amp; Resource</a:t>
            </a:r>
          </a:p>
          <a:p>
            <a:pPr>
              <a:defRPr sz="1200">
                <a:solidFill>
                  <a:srgbClr val="F8FAFC"/>
                </a:solidFill>
              </a:defRPr>
            </a:pPr>
            <a:r>
              <a:t>Form Request untuk isolasi validasi 422; API Resource untuk format JSON konsisten.</a:t>
            </a:r>
          </a:p>
        </p:txBody>
      </p:sp>
      <p:sp>
        <p:nvSpPr>
          <p:cNvPr id="14" name="Rounded Rectangle 13"/>
          <p:cNvSpPr/>
          <p:nvPr/>
        </p:nvSpPr>
        <p:spPr>
          <a:xfrm>
            <a:off x="731520" y="5111496"/>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111496"/>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21224"/>
            <a:ext cx="10332720" cy="649224"/>
          </a:xfrm>
          <a:prstGeom prst="rect">
            <a:avLst/>
          </a:prstGeom>
          <a:noFill/>
        </p:spPr>
        <p:txBody>
          <a:bodyPr wrap="square" lIns="0" tIns="0" rIns="0" bIns="0">
            <a:spAutoFit/>
          </a:bodyPr>
          <a:lstStyle/>
          <a:p>
            <a:pPr>
              <a:spcAft>
                <a:spcPts val="200"/>
              </a:spcAft>
              <a:defRPr sz="1400" b="1">
                <a:solidFill>
                  <a:srgbClr val="38BDF8"/>
                </a:solidFill>
              </a:defRPr>
            </a:pPr>
            <a:r>
              <a:t>Model &amp; Observer</a:t>
            </a:r>
          </a:p>
          <a:p>
            <a:pPr>
              <a:defRPr sz="1200">
                <a:solidFill>
                  <a:srgbClr val="F8FAFC"/>
                </a:solidFill>
              </a:defRPr>
            </a:pPr>
            <a:r>
              <a:t>Model Eloquent terhubung AuditObserver untuk tracking otomatis created, updated, deleted.</a:t>
            </a:r>
          </a:p>
        </p:txBody>
      </p:sp>
      <p:sp>
        <p:nvSpPr>
          <p:cNvPr id="17" name="TextBox 16"/>
          <p:cNvSpPr txBox="1"/>
          <p:nvPr/>
        </p:nvSpPr>
        <p:spPr>
          <a:xfrm>
            <a:off x="731520" y="6309360"/>
            <a:ext cx="10728655" cy="365760"/>
          </a:xfrm>
          <a:prstGeom prst="rect">
            <a:avLst/>
          </a:prstGeom>
          <a:noFill/>
        </p:spPr>
        <p:txBody>
          <a:bodyPr wrap="square" lIns="0" tIns="0" rIns="0" bIns="0">
            <a:spAutoFit/>
          </a:bodyPr>
          <a:lstStyle/>
          <a:p>
            <a:pPr>
              <a:defRPr sz="950">
                <a:solidFill>
                  <a:srgbClr val="94A3B8"/>
                </a:solidFill>
              </a:defRPr>
            </a:pPr>
            <a:r>
              <a:t>PT Astronova Enterprise • Backend Architecture Review &amp; Live Database Audit • Laravel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548640"/>
            <a:ext cx="73152" cy="1188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411480"/>
            <a:ext cx="10241280" cy="1371600"/>
          </a:xfrm>
          <a:prstGeom prst="rect">
            <a:avLst/>
          </a:prstGeom>
          <a:noFill/>
        </p:spPr>
        <p:txBody>
          <a:bodyPr wrap="square" lIns="0" tIns="0" rIns="0" bIns="0">
            <a:spAutoFit/>
          </a:bodyPr>
          <a:lstStyle/>
          <a:p>
            <a:pPr>
              <a:defRPr sz="1100" b="1">
                <a:solidFill>
                  <a:srgbClr val="34D399"/>
                </a:solidFill>
              </a:defRPr>
            </a:pPr>
            <a:r>
              <a:t>SLIDE 3 • DATABASE &amp; MODEL ELOQUENT</a:t>
            </a:r>
          </a:p>
          <a:p>
            <a:pPr>
              <a:spcAft>
                <a:spcPts val="400"/>
              </a:spcAft>
              <a:defRPr sz="2500" b="1">
                <a:solidFill>
                  <a:srgbClr val="F8FAFC"/>
                </a:solidFill>
              </a:defRPr>
            </a:pPr>
            <a:r>
              <a:t>Struktur Database &amp; Relasi Model</a:t>
            </a:r>
          </a:p>
          <a:p>
            <a:pPr>
              <a:defRPr sz="1300">
                <a:solidFill>
                  <a:srgbClr val="94A3B8"/>
                </a:solidFill>
              </a:defRPr>
            </a:pPr>
            <a:r>
              <a:t>28 Tabel Migrasi dengan Integritas Referential Ketat</a:t>
            </a:r>
          </a:p>
        </p:txBody>
      </p:sp>
      <p:sp>
        <p:nvSpPr>
          <p:cNvPr id="5" name="Rounded Rectangle 4"/>
          <p:cNvSpPr/>
          <p:nvPr/>
        </p:nvSpPr>
        <p:spPr>
          <a:xfrm>
            <a:off x="731520" y="2011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21408"/>
            <a:ext cx="10332720" cy="649224"/>
          </a:xfrm>
          <a:prstGeom prst="rect">
            <a:avLst/>
          </a:prstGeom>
          <a:noFill/>
        </p:spPr>
        <p:txBody>
          <a:bodyPr wrap="square" lIns="0" tIns="0" rIns="0" bIns="0">
            <a:spAutoFit/>
          </a:bodyPr>
          <a:lstStyle/>
          <a:p>
            <a:pPr>
              <a:spcAft>
                <a:spcPts val="200"/>
              </a:spcAft>
              <a:defRPr sz="1400" b="1">
                <a:solidFill>
                  <a:srgbClr val="38BDF8"/>
                </a:solidFill>
              </a:defRPr>
            </a:pPr>
            <a:r>
              <a:t>Master Data Inti</a:t>
            </a:r>
          </a:p>
          <a:p>
            <a:pPr>
              <a:defRPr sz="1200">
                <a:solidFill>
                  <a:srgbClr val="F8FAFC"/>
                </a:solidFill>
              </a:defRPr>
            </a:pPr>
            <a:r>
              <a:t>Departemen (1) ke Karyawan (N). Dilindungi onDelete('restrict') dari penghapusan ilegal.</a:t>
            </a:r>
          </a:p>
        </p:txBody>
      </p:sp>
      <p:sp>
        <p:nvSpPr>
          <p:cNvPr id="8" name="Rounded Rectangle 7"/>
          <p:cNvSpPr/>
          <p:nvPr/>
        </p:nvSpPr>
        <p:spPr>
          <a:xfrm>
            <a:off x="731520" y="3044952"/>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044952"/>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154680"/>
            <a:ext cx="10332720" cy="649224"/>
          </a:xfrm>
          <a:prstGeom prst="rect">
            <a:avLst/>
          </a:prstGeom>
          <a:noFill/>
        </p:spPr>
        <p:txBody>
          <a:bodyPr wrap="square" lIns="0" tIns="0" rIns="0" bIns="0">
            <a:spAutoFit/>
          </a:bodyPr>
          <a:lstStyle/>
          <a:p>
            <a:pPr>
              <a:spcAft>
                <a:spcPts val="200"/>
              </a:spcAft>
              <a:defRPr sz="1400" b="1">
                <a:solidFill>
                  <a:srgbClr val="38BDF8"/>
                </a:solidFill>
              </a:defRPr>
            </a:pPr>
            <a:r>
              <a:t>Transaksi Induk &amp; Detail</a:t>
            </a:r>
          </a:p>
          <a:p>
            <a:pPr>
              <a:defRPr sz="1200">
                <a:solidFill>
                  <a:srgbClr val="F8FAFC"/>
                </a:solidFill>
              </a:defRPr>
            </a:pPr>
            <a:r>
              <a:t>PengajuanPerjalanan (1) ke DetailEstimasi (N), UangMuka (N), Booking (N), Itinerary (N).</a:t>
            </a:r>
          </a:p>
        </p:txBody>
      </p:sp>
      <p:sp>
        <p:nvSpPr>
          <p:cNvPr id="11" name="Rounded Rectangle 10"/>
          <p:cNvSpPr/>
          <p:nvPr/>
        </p:nvSpPr>
        <p:spPr>
          <a:xfrm>
            <a:off x="731520" y="4078224"/>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78224"/>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87952"/>
            <a:ext cx="10332720" cy="649224"/>
          </a:xfrm>
          <a:prstGeom prst="rect">
            <a:avLst/>
          </a:prstGeom>
          <a:noFill/>
        </p:spPr>
        <p:txBody>
          <a:bodyPr wrap="square" lIns="0" tIns="0" rIns="0" bIns="0">
            <a:spAutoFit/>
          </a:bodyPr>
          <a:lstStyle/>
          <a:p>
            <a:pPr>
              <a:spcAft>
                <a:spcPts val="200"/>
              </a:spcAft>
              <a:defRPr sz="1400" b="1">
                <a:solidFill>
                  <a:srgbClr val="38BDF8"/>
                </a:solidFill>
              </a:defRPr>
            </a:pPr>
            <a:r>
              <a:t>Klaim Reimbursement</a:t>
            </a:r>
          </a:p>
          <a:p>
            <a:pPr>
              <a:defRPr sz="1200">
                <a:solidFill>
                  <a:srgbClr val="F8FAFC"/>
                </a:solidFill>
              </a:defRPr>
            </a:pPr>
            <a:r>
              <a:t>Relasi 1:1 ke PengajuanPerjalanan yang disetujui, terhubung DetailPengeluaran &amp; BuktiStruk.</a:t>
            </a:r>
          </a:p>
        </p:txBody>
      </p:sp>
      <p:sp>
        <p:nvSpPr>
          <p:cNvPr id="14" name="Rounded Rectangle 13"/>
          <p:cNvSpPr/>
          <p:nvPr/>
        </p:nvSpPr>
        <p:spPr>
          <a:xfrm>
            <a:off x="731520" y="5111496"/>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111496"/>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21224"/>
            <a:ext cx="10332720" cy="649224"/>
          </a:xfrm>
          <a:prstGeom prst="rect">
            <a:avLst/>
          </a:prstGeom>
          <a:noFill/>
        </p:spPr>
        <p:txBody>
          <a:bodyPr wrap="square" lIns="0" tIns="0" rIns="0" bIns="0">
            <a:spAutoFit/>
          </a:bodyPr>
          <a:lstStyle/>
          <a:p>
            <a:pPr>
              <a:spcAft>
                <a:spcPts val="200"/>
              </a:spcAft>
              <a:defRPr sz="1400" b="1">
                <a:solidFill>
                  <a:srgbClr val="38BDF8"/>
                </a:solidFill>
              </a:defRPr>
            </a:pPr>
            <a:r>
              <a:t>Riwayat Persetujuan</a:t>
            </a:r>
          </a:p>
          <a:p>
            <a:pPr>
              <a:defRPr sz="1200">
                <a:solidFill>
                  <a:srgbClr val="F8FAFC"/>
                </a:solidFill>
              </a:defRPr>
            </a:pPr>
            <a:r>
              <a:t>Relasi Polimorfik (approvable_type, approvable_id) melayani approval berjenjang multi-dokumen.</a:t>
            </a:r>
          </a:p>
        </p:txBody>
      </p:sp>
      <p:sp>
        <p:nvSpPr>
          <p:cNvPr id="17" name="TextBox 16"/>
          <p:cNvSpPr txBox="1"/>
          <p:nvPr/>
        </p:nvSpPr>
        <p:spPr>
          <a:xfrm>
            <a:off x="731520" y="6309360"/>
            <a:ext cx="10728655" cy="365760"/>
          </a:xfrm>
          <a:prstGeom prst="rect">
            <a:avLst/>
          </a:prstGeom>
          <a:noFill/>
        </p:spPr>
        <p:txBody>
          <a:bodyPr wrap="square" lIns="0" tIns="0" rIns="0" bIns="0">
            <a:spAutoFit/>
          </a:bodyPr>
          <a:lstStyle/>
          <a:p>
            <a:pPr>
              <a:defRPr sz="950">
                <a:solidFill>
                  <a:srgbClr val="94A3B8"/>
                </a:solidFill>
              </a:defRPr>
            </a:pPr>
            <a:r>
              <a:t>PT Astronova Enterprise • Backend Architecture Review &amp; Live Database Audit • Laravel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548640"/>
            <a:ext cx="73152" cy="1188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411480"/>
            <a:ext cx="10241280" cy="1371600"/>
          </a:xfrm>
          <a:prstGeom prst="rect">
            <a:avLst/>
          </a:prstGeom>
          <a:noFill/>
        </p:spPr>
        <p:txBody>
          <a:bodyPr wrap="square" lIns="0" tIns="0" rIns="0" bIns="0">
            <a:spAutoFit/>
          </a:bodyPr>
          <a:lstStyle/>
          <a:p>
            <a:pPr>
              <a:defRPr sz="1100" b="1">
                <a:solidFill>
                  <a:srgbClr val="34D399"/>
                </a:solidFill>
              </a:defRPr>
            </a:pPr>
            <a:r>
              <a:t>SLIDE 4 • API ENDPOINTS &amp; STANDARISASI</a:t>
            </a:r>
          </a:p>
          <a:p>
            <a:pPr>
              <a:spcAft>
                <a:spcPts val="400"/>
              </a:spcAft>
              <a:defRPr sz="2500" b="1">
                <a:solidFill>
                  <a:srgbClr val="F8FAFC"/>
                </a:solidFill>
              </a:defRPr>
            </a:pPr>
            <a:r>
              <a:t>Route, Controller, dan Alur Request</a:t>
            </a:r>
          </a:p>
          <a:p>
            <a:pPr>
              <a:defRPr sz="1300">
                <a:solidFill>
                  <a:srgbClr val="94A3B8"/>
                </a:solidFill>
              </a:defRPr>
            </a:pPr>
            <a:r>
              <a:t>Format Response Seragam &amp; Konsisten untuk Klien</a:t>
            </a:r>
          </a:p>
        </p:txBody>
      </p:sp>
      <p:sp>
        <p:nvSpPr>
          <p:cNvPr id="5" name="Rounded Rectangle 4"/>
          <p:cNvSpPr/>
          <p:nvPr/>
        </p:nvSpPr>
        <p:spPr>
          <a:xfrm>
            <a:off x="731520" y="2011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21408"/>
            <a:ext cx="10332720" cy="649224"/>
          </a:xfrm>
          <a:prstGeom prst="rect">
            <a:avLst/>
          </a:prstGeom>
          <a:noFill/>
        </p:spPr>
        <p:txBody>
          <a:bodyPr wrap="square" lIns="0" tIns="0" rIns="0" bIns="0">
            <a:spAutoFit/>
          </a:bodyPr>
          <a:lstStyle/>
          <a:p>
            <a:pPr>
              <a:spcAft>
                <a:spcPts val="200"/>
              </a:spcAft>
              <a:defRPr sz="1400" b="1">
                <a:solidFill>
                  <a:srgbClr val="38BDF8"/>
                </a:solidFill>
              </a:defRPr>
            </a:pPr>
            <a:r>
              <a:t>Format Response Standar</a:t>
            </a:r>
          </a:p>
          <a:p>
            <a:pPr>
              <a:defRPr sz="1200">
                <a:solidFill>
                  <a:srgbClr val="F8FAFC"/>
                </a:solidFill>
              </a:defRPr>
            </a:pPr>
            <a:r>
              <a:t>Mewarisi BaseApiController: selalu mengembalikan success (bool), message (str), data/errors.</a:t>
            </a:r>
          </a:p>
        </p:txBody>
      </p:sp>
      <p:sp>
        <p:nvSpPr>
          <p:cNvPr id="8" name="Rounded Rectangle 7"/>
          <p:cNvSpPr/>
          <p:nvPr/>
        </p:nvSpPr>
        <p:spPr>
          <a:xfrm>
            <a:off x="731520" y="3044952"/>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044952"/>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154680"/>
            <a:ext cx="10332720" cy="649224"/>
          </a:xfrm>
          <a:prstGeom prst="rect">
            <a:avLst/>
          </a:prstGeom>
          <a:noFill/>
        </p:spPr>
        <p:txBody>
          <a:bodyPr wrap="square" lIns="0" tIns="0" rIns="0" bIns="0">
            <a:spAutoFit/>
          </a:bodyPr>
          <a:lstStyle/>
          <a:p>
            <a:pPr>
              <a:spcAft>
                <a:spcPts val="200"/>
              </a:spcAft>
              <a:defRPr sz="1400" b="1">
                <a:solidFill>
                  <a:srgbClr val="38BDF8"/>
                </a:solidFill>
              </a:defRPr>
            </a:pPr>
            <a:r>
              <a:t>RESTful Resource Routes</a:t>
            </a:r>
          </a:p>
          <a:p>
            <a:pPr>
              <a:defRPr sz="1200">
                <a:solidFill>
                  <a:srgbClr val="F8FAFC"/>
                </a:solidFill>
              </a:defRPr>
            </a:pPr>
            <a:r>
              <a:t>Standar HTTP: GET (index/show), POST (store), PUT (update), PATCH (status), DELETE (destroy).</a:t>
            </a:r>
          </a:p>
        </p:txBody>
      </p:sp>
      <p:sp>
        <p:nvSpPr>
          <p:cNvPr id="11" name="Rounded Rectangle 10"/>
          <p:cNvSpPr/>
          <p:nvPr/>
        </p:nvSpPr>
        <p:spPr>
          <a:xfrm>
            <a:off x="731520" y="4078224"/>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78224"/>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87952"/>
            <a:ext cx="10332720" cy="649224"/>
          </a:xfrm>
          <a:prstGeom prst="rect">
            <a:avLst/>
          </a:prstGeom>
          <a:noFill/>
        </p:spPr>
        <p:txBody>
          <a:bodyPr wrap="square" lIns="0" tIns="0" rIns="0" bIns="0">
            <a:spAutoFit/>
          </a:bodyPr>
          <a:lstStyle/>
          <a:p>
            <a:pPr>
              <a:spcAft>
                <a:spcPts val="200"/>
              </a:spcAft>
              <a:defRPr sz="1400" b="1">
                <a:solidFill>
                  <a:srgbClr val="38BDF8"/>
                </a:solidFill>
              </a:defRPr>
            </a:pPr>
            <a:r>
              <a:t>Workflow Endpoints</a:t>
            </a:r>
          </a:p>
          <a:p>
            <a:pPr>
              <a:defRPr sz="1200">
                <a:solidFill>
                  <a:srgbClr val="F8FAFC"/>
                </a:solidFill>
              </a:defRPr>
            </a:pPr>
            <a:r>
              <a:t>Rute aksi khusus: /pengajuan-perjalanan/{id}/status, /persetujuan/approve, /persetujuan/reject.</a:t>
            </a:r>
          </a:p>
        </p:txBody>
      </p:sp>
      <p:sp>
        <p:nvSpPr>
          <p:cNvPr id="14" name="Rounded Rectangle 13"/>
          <p:cNvSpPr/>
          <p:nvPr/>
        </p:nvSpPr>
        <p:spPr>
          <a:xfrm>
            <a:off x="731520" y="5111496"/>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111496"/>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21224"/>
            <a:ext cx="10332720" cy="649224"/>
          </a:xfrm>
          <a:prstGeom prst="rect">
            <a:avLst/>
          </a:prstGeom>
          <a:noFill/>
        </p:spPr>
        <p:txBody>
          <a:bodyPr wrap="square" lIns="0" tIns="0" rIns="0" bIns="0">
            <a:spAutoFit/>
          </a:bodyPr>
          <a:lstStyle/>
          <a:p>
            <a:pPr>
              <a:spcAft>
                <a:spcPts val="200"/>
              </a:spcAft>
              <a:defRPr sz="1400" b="1">
                <a:solidFill>
                  <a:srgbClr val="38BDF8"/>
                </a:solidFill>
              </a:defRPr>
            </a:pPr>
            <a:r>
              <a:t>File Management</a:t>
            </a:r>
          </a:p>
          <a:p>
            <a:pPr>
              <a:defRPr sz="1200">
                <a:solidFill>
                  <a:srgbClr val="F8FAFC"/>
                </a:solidFill>
              </a:defRPr>
            </a:pPr>
            <a:r>
              <a:t>Upload berkas bukti nota dan surat tugas (/api/bukti-struk, /api/dokumen-pendukung).</a:t>
            </a:r>
          </a:p>
        </p:txBody>
      </p:sp>
      <p:sp>
        <p:nvSpPr>
          <p:cNvPr id="17" name="TextBox 16"/>
          <p:cNvSpPr txBox="1"/>
          <p:nvPr/>
        </p:nvSpPr>
        <p:spPr>
          <a:xfrm>
            <a:off x="731520" y="6309360"/>
            <a:ext cx="10728655" cy="365760"/>
          </a:xfrm>
          <a:prstGeom prst="rect">
            <a:avLst/>
          </a:prstGeom>
          <a:noFill/>
        </p:spPr>
        <p:txBody>
          <a:bodyPr wrap="square" lIns="0" tIns="0" rIns="0" bIns="0">
            <a:spAutoFit/>
          </a:bodyPr>
          <a:lstStyle/>
          <a:p>
            <a:pPr>
              <a:defRPr sz="950">
                <a:solidFill>
                  <a:srgbClr val="94A3B8"/>
                </a:solidFill>
              </a:defRPr>
            </a:pPr>
            <a:r>
              <a:t>PT Astronova Enterprise • Backend Architecture Review &amp; Live Database Audit • Laravel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548640"/>
            <a:ext cx="73152" cy="1188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411480"/>
            <a:ext cx="10241280" cy="1371600"/>
          </a:xfrm>
          <a:prstGeom prst="rect">
            <a:avLst/>
          </a:prstGeom>
          <a:noFill/>
        </p:spPr>
        <p:txBody>
          <a:bodyPr wrap="square" lIns="0" tIns="0" rIns="0" bIns="0">
            <a:spAutoFit/>
          </a:bodyPr>
          <a:lstStyle/>
          <a:p>
            <a:pPr>
              <a:defRPr sz="1100" b="1">
                <a:solidFill>
                  <a:srgbClr val="34D399"/>
                </a:solidFill>
              </a:defRPr>
            </a:pPr>
            <a:r>
              <a:t>SLIDE 5 • LOGIKA BISNIS &amp; PERSISTENSI</a:t>
            </a:r>
          </a:p>
          <a:p>
            <a:pPr>
              <a:spcAft>
                <a:spcPts val="400"/>
              </a:spcAft>
              <a:defRPr sz="2500" b="1">
                <a:solidFill>
                  <a:srgbClr val="F8FAFC"/>
                </a:solidFill>
              </a:defRPr>
            </a:pPr>
            <a:r>
              <a:t>Implementasi CRUD Menggunakan Database</a:t>
            </a:r>
          </a:p>
          <a:p>
            <a:pPr>
              <a:defRPr sz="1300">
                <a:solidFill>
                  <a:srgbClr val="94A3B8"/>
                </a:solidFill>
              </a:defRPr>
            </a:pPr>
            <a:r>
              <a:t>Konsistensi Transaksi Atomik &amp; Perhitungan Otomatis</a:t>
            </a:r>
          </a:p>
        </p:txBody>
      </p:sp>
      <p:sp>
        <p:nvSpPr>
          <p:cNvPr id="5" name="Rounded Rectangle 4"/>
          <p:cNvSpPr/>
          <p:nvPr/>
        </p:nvSpPr>
        <p:spPr>
          <a:xfrm>
            <a:off x="731520" y="2011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21408"/>
            <a:ext cx="10332720" cy="649224"/>
          </a:xfrm>
          <a:prstGeom prst="rect">
            <a:avLst/>
          </a:prstGeom>
          <a:noFill/>
        </p:spPr>
        <p:txBody>
          <a:bodyPr wrap="square" lIns="0" tIns="0" rIns="0" bIns="0">
            <a:spAutoFit/>
          </a:bodyPr>
          <a:lstStyle/>
          <a:p>
            <a:pPr>
              <a:spcAft>
                <a:spcPts val="200"/>
              </a:spcAft>
              <a:defRPr sz="1400" b="1">
                <a:solidFill>
                  <a:srgbClr val="38BDF8"/>
                </a:solidFill>
              </a:defRPr>
            </a:pPr>
            <a:r>
              <a:t>Database Transaction</a:t>
            </a:r>
          </a:p>
          <a:p>
            <a:pPr>
              <a:defRPr sz="1200">
                <a:solidFill>
                  <a:srgbClr val="F8FAFC"/>
                </a:solidFill>
              </a:defRPr>
            </a:pPr>
            <a:r>
              <a:t>DB::transaction() menjamin header dan detail item tersimpan utuh atau dibatalkan bersama.</a:t>
            </a:r>
          </a:p>
        </p:txBody>
      </p:sp>
      <p:sp>
        <p:nvSpPr>
          <p:cNvPr id="8" name="Rounded Rectangle 7"/>
          <p:cNvSpPr/>
          <p:nvPr/>
        </p:nvSpPr>
        <p:spPr>
          <a:xfrm>
            <a:off x="731520" y="3044952"/>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044952"/>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154680"/>
            <a:ext cx="10332720" cy="649224"/>
          </a:xfrm>
          <a:prstGeom prst="rect">
            <a:avLst/>
          </a:prstGeom>
          <a:noFill/>
        </p:spPr>
        <p:txBody>
          <a:bodyPr wrap="square" lIns="0" tIns="0" rIns="0" bIns="0">
            <a:spAutoFit/>
          </a:bodyPr>
          <a:lstStyle/>
          <a:p>
            <a:pPr>
              <a:spcAft>
                <a:spcPts val="200"/>
              </a:spcAft>
              <a:defRPr sz="1400" b="1">
                <a:solidFill>
                  <a:srgbClr val="38BDF8"/>
                </a:solidFill>
              </a:defRPr>
            </a:pPr>
            <a:r>
              <a:t>Auto-Numbering Dinamis</a:t>
            </a:r>
          </a:p>
          <a:p>
            <a:pPr>
              <a:defRPr sz="1200">
                <a:solidFill>
                  <a:srgbClr val="F8FAFC"/>
                </a:solidFill>
              </a:defRPr>
            </a:pPr>
            <a:r>
              <a:t>Nomor TRV/YYYYMM/0001 &amp; RMB/YYYYMM/0001 dihitung dinamis dari urutan record terakhir bulan ini.</a:t>
            </a:r>
          </a:p>
        </p:txBody>
      </p:sp>
      <p:sp>
        <p:nvSpPr>
          <p:cNvPr id="11" name="Rounded Rectangle 10"/>
          <p:cNvSpPr/>
          <p:nvPr/>
        </p:nvSpPr>
        <p:spPr>
          <a:xfrm>
            <a:off x="731520" y="4078224"/>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78224"/>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87952"/>
            <a:ext cx="10332720" cy="649224"/>
          </a:xfrm>
          <a:prstGeom prst="rect">
            <a:avLst/>
          </a:prstGeom>
          <a:noFill/>
        </p:spPr>
        <p:txBody>
          <a:bodyPr wrap="square" lIns="0" tIns="0" rIns="0" bIns="0">
            <a:spAutoFit/>
          </a:bodyPr>
          <a:lstStyle/>
          <a:p>
            <a:pPr>
              <a:spcAft>
                <a:spcPts val="200"/>
              </a:spcAft>
              <a:defRPr sz="1400" b="1">
                <a:solidFill>
                  <a:srgbClr val="38BDF8"/>
                </a:solidFill>
              </a:defRPr>
            </a:pPr>
            <a:r>
              <a:t>Kalkulasi Keuangan Otomatis</a:t>
            </a:r>
          </a:p>
          <a:p>
            <a:pPr>
              <a:defRPr sz="1200">
                <a:solidFill>
                  <a:srgbClr val="F8FAFC"/>
                </a:solidFill>
              </a:defRPr>
            </a:pPr>
            <a:r>
              <a:t>Selisih = Total Pengeluaran - Uang Muka. Menghasilkan status kurang_bayar, lebih_bayar, atau nihil.</a:t>
            </a:r>
          </a:p>
        </p:txBody>
      </p:sp>
      <p:sp>
        <p:nvSpPr>
          <p:cNvPr id="14" name="Rounded Rectangle 13"/>
          <p:cNvSpPr/>
          <p:nvPr/>
        </p:nvSpPr>
        <p:spPr>
          <a:xfrm>
            <a:off x="731520" y="5111496"/>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111496"/>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21224"/>
            <a:ext cx="10332720" cy="649224"/>
          </a:xfrm>
          <a:prstGeom prst="rect">
            <a:avLst/>
          </a:prstGeom>
          <a:noFill/>
        </p:spPr>
        <p:txBody>
          <a:bodyPr wrap="square" lIns="0" tIns="0" rIns="0" bIns="0">
            <a:spAutoFit/>
          </a:bodyPr>
          <a:lstStyle/>
          <a:p>
            <a:pPr>
              <a:spcAft>
                <a:spcPts val="200"/>
              </a:spcAft>
              <a:defRPr sz="1400" b="1">
                <a:solidFill>
                  <a:srgbClr val="38BDF8"/>
                </a:solidFill>
              </a:defRPr>
            </a:pPr>
            <a:r>
              <a:t>Eager Loading Efisien</a:t>
            </a:r>
          </a:p>
          <a:p>
            <a:pPr>
              <a:defRPr sz="1200">
                <a:solidFill>
                  <a:srgbClr val="F8FAFC"/>
                </a:solidFill>
              </a:defRPr>
            </a:pPr>
            <a:r>
              <a:t>Query mengikutsertakan with(['karyawan', 'tujuan', 'details']) untuk mencegah N+1 query problem.</a:t>
            </a:r>
          </a:p>
        </p:txBody>
      </p:sp>
      <p:sp>
        <p:nvSpPr>
          <p:cNvPr id="17" name="TextBox 16"/>
          <p:cNvSpPr txBox="1"/>
          <p:nvPr/>
        </p:nvSpPr>
        <p:spPr>
          <a:xfrm>
            <a:off x="731520" y="6309360"/>
            <a:ext cx="10728655" cy="365760"/>
          </a:xfrm>
          <a:prstGeom prst="rect">
            <a:avLst/>
          </a:prstGeom>
          <a:noFill/>
        </p:spPr>
        <p:txBody>
          <a:bodyPr wrap="square" lIns="0" tIns="0" rIns="0" bIns="0">
            <a:spAutoFit/>
          </a:bodyPr>
          <a:lstStyle/>
          <a:p>
            <a:pPr>
              <a:defRPr sz="950">
                <a:solidFill>
                  <a:srgbClr val="94A3B8"/>
                </a:solidFill>
              </a:defRPr>
            </a:pPr>
            <a:r>
              <a:t>PT Astronova Enterprise • Backend Architecture Review &amp; Live Database Audit • Laravel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548640"/>
            <a:ext cx="73152" cy="1188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411480"/>
            <a:ext cx="10241280" cy="1371600"/>
          </a:xfrm>
          <a:prstGeom prst="rect">
            <a:avLst/>
          </a:prstGeom>
          <a:noFill/>
        </p:spPr>
        <p:txBody>
          <a:bodyPr wrap="square" lIns="0" tIns="0" rIns="0" bIns="0">
            <a:spAutoFit/>
          </a:bodyPr>
          <a:lstStyle/>
          <a:p>
            <a:pPr>
              <a:defRPr sz="1100" b="1">
                <a:solidFill>
                  <a:srgbClr val="34D399"/>
                </a:solidFill>
              </a:defRPr>
            </a:pPr>
            <a:r>
              <a:t>SLIDE 6 • VALIDASI &amp; ERROR HANDLING</a:t>
            </a:r>
          </a:p>
          <a:p>
            <a:pPr>
              <a:spcAft>
                <a:spcPts val="400"/>
              </a:spcAft>
              <a:defRPr sz="2500" b="1">
                <a:solidFill>
                  <a:srgbClr val="F8FAFC"/>
                </a:solidFill>
              </a:defRPr>
            </a:pPr>
            <a:r>
              <a:t>Proses Validasi &amp; Penanganan Error</a:t>
            </a:r>
          </a:p>
          <a:p>
            <a:pPr>
              <a:defRPr sz="1300">
                <a:solidFill>
                  <a:srgbClr val="94A3B8"/>
                </a:solidFill>
              </a:defRPr>
            </a:pPr>
            <a:r>
              <a:t>Keandalan Input &amp; Proteksi Status Alur Kerja</a:t>
            </a:r>
          </a:p>
        </p:txBody>
      </p:sp>
      <p:sp>
        <p:nvSpPr>
          <p:cNvPr id="5" name="Rounded Rectangle 4"/>
          <p:cNvSpPr/>
          <p:nvPr/>
        </p:nvSpPr>
        <p:spPr>
          <a:xfrm>
            <a:off x="731520" y="2011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21408"/>
            <a:ext cx="10332720" cy="649224"/>
          </a:xfrm>
          <a:prstGeom prst="rect">
            <a:avLst/>
          </a:prstGeom>
          <a:noFill/>
        </p:spPr>
        <p:txBody>
          <a:bodyPr wrap="square" lIns="0" tIns="0" rIns="0" bIns="0">
            <a:spAutoFit/>
          </a:bodyPr>
          <a:lstStyle/>
          <a:p>
            <a:pPr>
              <a:spcAft>
                <a:spcPts val="200"/>
              </a:spcAft>
              <a:defRPr sz="1400" b="1">
                <a:solidFill>
                  <a:srgbClr val="38BDF8"/>
                </a:solidFill>
              </a:defRPr>
            </a:pPr>
            <a:r>
              <a:t>BaseFormRequest (HTTP 422)</a:t>
            </a:r>
          </a:p>
          <a:p>
            <a:pPr>
              <a:defRPr sz="1200">
                <a:solidFill>
                  <a:srgbClr val="F8FAFC"/>
                </a:solidFill>
              </a:defRPr>
            </a:pPr>
            <a:r>
              <a:t>Validasi terisolasi: format email unik, rentang tanggal, limit ukuran file, &amp; foreign key exists.</a:t>
            </a:r>
          </a:p>
        </p:txBody>
      </p:sp>
      <p:sp>
        <p:nvSpPr>
          <p:cNvPr id="8" name="Rounded Rectangle 7"/>
          <p:cNvSpPr/>
          <p:nvPr/>
        </p:nvSpPr>
        <p:spPr>
          <a:xfrm>
            <a:off x="731520" y="3044952"/>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044952"/>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154680"/>
            <a:ext cx="10332720" cy="649224"/>
          </a:xfrm>
          <a:prstGeom prst="rect">
            <a:avLst/>
          </a:prstGeom>
          <a:noFill/>
        </p:spPr>
        <p:txBody>
          <a:bodyPr wrap="square" lIns="0" tIns="0" rIns="0" bIns="0">
            <a:spAutoFit/>
          </a:bodyPr>
          <a:lstStyle/>
          <a:p>
            <a:pPr>
              <a:spcAft>
                <a:spcPts val="200"/>
              </a:spcAft>
              <a:defRPr sz="1400" b="1">
                <a:solidFill>
                  <a:srgbClr val="38BDF8"/>
                </a:solidFill>
              </a:defRPr>
            </a:pPr>
            <a:r>
              <a:t>State Machine via PHP Enum</a:t>
            </a:r>
          </a:p>
          <a:p>
            <a:pPr>
              <a:defRPr sz="1200">
                <a:solidFill>
                  <a:srgbClr val="F8FAFC"/>
                </a:solidFill>
              </a:defRPr>
            </a:pPr>
            <a:r>
              <a:t>StatusPengajuanEnum memblokir transisi status terlarang (misal: dokumen disetujui tidak bisa diedit).</a:t>
            </a:r>
          </a:p>
        </p:txBody>
      </p:sp>
      <p:sp>
        <p:nvSpPr>
          <p:cNvPr id="11" name="Rounded Rectangle 10"/>
          <p:cNvSpPr/>
          <p:nvPr/>
        </p:nvSpPr>
        <p:spPr>
          <a:xfrm>
            <a:off x="731520" y="4078224"/>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78224"/>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87952"/>
            <a:ext cx="10332720" cy="649224"/>
          </a:xfrm>
          <a:prstGeom prst="rect">
            <a:avLst/>
          </a:prstGeom>
          <a:noFill/>
        </p:spPr>
        <p:txBody>
          <a:bodyPr wrap="square" lIns="0" tIns="0" rIns="0" bIns="0">
            <a:spAutoFit/>
          </a:bodyPr>
          <a:lstStyle/>
          <a:p>
            <a:pPr>
              <a:spcAft>
                <a:spcPts val="200"/>
              </a:spcAft>
              <a:defRPr sz="1400" b="1">
                <a:solidFill>
                  <a:srgbClr val="38BDF8"/>
                </a:solidFill>
              </a:defRPr>
            </a:pPr>
            <a:r>
              <a:t>Error Handler Terpusat</a:t>
            </a:r>
          </a:p>
          <a:p>
            <a:pPr>
              <a:defRPr sz="1200">
                <a:solidFill>
                  <a:srgbClr val="F8FAFC"/>
                </a:solidFill>
              </a:defRPr>
            </a:pPr>
            <a:r>
              <a:t>bootstrap/app.php memetakan AuthenticationException ke 401 dan NotFoundHttpException ke 404 JSON.</a:t>
            </a:r>
          </a:p>
        </p:txBody>
      </p:sp>
      <p:sp>
        <p:nvSpPr>
          <p:cNvPr id="14" name="Rounded Rectangle 13"/>
          <p:cNvSpPr/>
          <p:nvPr/>
        </p:nvSpPr>
        <p:spPr>
          <a:xfrm>
            <a:off x="731520" y="5111496"/>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111496"/>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21224"/>
            <a:ext cx="10332720" cy="649224"/>
          </a:xfrm>
          <a:prstGeom prst="rect">
            <a:avLst/>
          </a:prstGeom>
          <a:noFill/>
        </p:spPr>
        <p:txBody>
          <a:bodyPr wrap="square" lIns="0" tIns="0" rIns="0" bIns="0">
            <a:spAutoFit/>
          </a:bodyPr>
          <a:lstStyle/>
          <a:p>
            <a:pPr>
              <a:spcAft>
                <a:spcPts val="200"/>
              </a:spcAft>
              <a:defRPr sz="1400" b="1">
                <a:solidFill>
                  <a:srgbClr val="38BDF8"/>
                </a:solidFill>
              </a:defRPr>
            </a:pPr>
            <a:r>
              <a:t>Delete Protection (HTTP 409)</a:t>
            </a:r>
          </a:p>
          <a:p>
            <a:pPr>
              <a:defRPr sz="1200">
                <a:solidFill>
                  <a:srgbClr val="F8FAFC"/>
                </a:solidFill>
              </a:defRPr>
            </a:pPr>
            <a:r>
              <a:t>Mencegah penghapusan kategori atau departemen yang masih memiliki data terkait di database.</a:t>
            </a:r>
          </a:p>
        </p:txBody>
      </p:sp>
      <p:sp>
        <p:nvSpPr>
          <p:cNvPr id="17" name="TextBox 16"/>
          <p:cNvSpPr txBox="1"/>
          <p:nvPr/>
        </p:nvSpPr>
        <p:spPr>
          <a:xfrm>
            <a:off x="731520" y="6309360"/>
            <a:ext cx="10728655" cy="365760"/>
          </a:xfrm>
          <a:prstGeom prst="rect">
            <a:avLst/>
          </a:prstGeom>
          <a:noFill/>
        </p:spPr>
        <p:txBody>
          <a:bodyPr wrap="square" lIns="0" tIns="0" rIns="0" bIns="0">
            <a:spAutoFit/>
          </a:bodyPr>
          <a:lstStyle/>
          <a:p>
            <a:pPr>
              <a:defRPr sz="950">
                <a:solidFill>
                  <a:srgbClr val="94A3B8"/>
                </a:solidFill>
              </a:defRPr>
            </a:pPr>
            <a:r>
              <a:t>PT Astronova Enterprise • Backend Architecture Review &amp; Live Database Audit • Laravel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548640"/>
            <a:ext cx="73152" cy="1188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411480"/>
            <a:ext cx="10241280" cy="1371600"/>
          </a:xfrm>
          <a:prstGeom prst="rect">
            <a:avLst/>
          </a:prstGeom>
          <a:noFill/>
        </p:spPr>
        <p:txBody>
          <a:bodyPr wrap="square" lIns="0" tIns="0" rIns="0" bIns="0">
            <a:spAutoFit/>
          </a:bodyPr>
          <a:lstStyle/>
          <a:p>
            <a:pPr>
              <a:defRPr sz="1100" b="1">
                <a:solidFill>
                  <a:srgbClr val="34D399"/>
                </a:solidFill>
              </a:defRPr>
            </a:pPr>
            <a:r>
              <a:t>SLIDE 7 • SECURITY &amp; ACCESS CONTROL</a:t>
            </a:r>
          </a:p>
          <a:p>
            <a:pPr>
              <a:spcAft>
                <a:spcPts val="400"/>
              </a:spcAft>
              <a:defRPr sz="2500" b="1">
                <a:solidFill>
                  <a:srgbClr val="F8FAFC"/>
                </a:solidFill>
              </a:defRPr>
            </a:pPr>
            <a:r>
              <a:t>Authentication, Authorization, &amp; Keamanan</a:t>
            </a:r>
          </a:p>
          <a:p>
            <a:pPr>
              <a:defRPr sz="1300">
                <a:solidFill>
                  <a:srgbClr val="94A3B8"/>
                </a:solidFill>
              </a:defRPr>
            </a:pPr>
            <a:r>
              <a:t>Proteksi API Berbasis Token Laravel Sanctum v4.0</a:t>
            </a:r>
          </a:p>
        </p:txBody>
      </p:sp>
      <p:sp>
        <p:nvSpPr>
          <p:cNvPr id="5" name="Rounded Rectangle 4"/>
          <p:cNvSpPr/>
          <p:nvPr/>
        </p:nvSpPr>
        <p:spPr>
          <a:xfrm>
            <a:off x="731520" y="2011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21408"/>
            <a:ext cx="10332720" cy="649224"/>
          </a:xfrm>
          <a:prstGeom prst="rect">
            <a:avLst/>
          </a:prstGeom>
          <a:noFill/>
        </p:spPr>
        <p:txBody>
          <a:bodyPr wrap="square" lIns="0" tIns="0" rIns="0" bIns="0">
            <a:spAutoFit/>
          </a:bodyPr>
          <a:lstStyle/>
          <a:p>
            <a:pPr>
              <a:spcAft>
                <a:spcPts val="200"/>
              </a:spcAft>
              <a:defRPr sz="1400" b="1">
                <a:solidFill>
                  <a:srgbClr val="38BDF8"/>
                </a:solidFill>
              </a:defRPr>
            </a:pPr>
            <a:r>
              <a:t>Bearer Token Sanctum</a:t>
            </a:r>
          </a:p>
          <a:p>
            <a:pPr>
              <a:defRPr sz="1200">
                <a:solidFill>
                  <a:srgbClr val="F8FAFC"/>
                </a:solidFill>
              </a:defRPr>
            </a:pPr>
            <a:r>
              <a:t>Seluruh rute dilindungi auth:sanctum kecuali endpoint login dan health check public.</a:t>
            </a:r>
          </a:p>
        </p:txBody>
      </p:sp>
      <p:sp>
        <p:nvSpPr>
          <p:cNvPr id="8" name="Rounded Rectangle 7"/>
          <p:cNvSpPr/>
          <p:nvPr/>
        </p:nvSpPr>
        <p:spPr>
          <a:xfrm>
            <a:off x="731520" y="3044952"/>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044952"/>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154680"/>
            <a:ext cx="10332720" cy="649224"/>
          </a:xfrm>
          <a:prstGeom prst="rect">
            <a:avLst/>
          </a:prstGeom>
          <a:noFill/>
        </p:spPr>
        <p:txBody>
          <a:bodyPr wrap="square" lIns="0" tIns="0" rIns="0" bIns="0">
            <a:spAutoFit/>
          </a:bodyPr>
          <a:lstStyle/>
          <a:p>
            <a:pPr>
              <a:spcAft>
                <a:spcPts val="200"/>
              </a:spcAft>
              <a:defRPr sz="1400" b="1">
                <a:solidFill>
                  <a:srgbClr val="38BDF8"/>
                </a:solidFill>
              </a:defRPr>
            </a:pPr>
            <a:r>
              <a:t>Pencegahan IDOR</a:t>
            </a:r>
          </a:p>
          <a:p>
            <a:pPr>
              <a:defRPr sz="1200">
                <a:solidFill>
                  <a:srgbClr val="F8FAFC"/>
                </a:solidFill>
              </a:defRPr>
            </a:pPr>
            <a:r>
              <a:t>Identitas penyetuju (approver) diambil langsung dari token auth user login ($request-&gt;user()).</a:t>
            </a:r>
          </a:p>
        </p:txBody>
      </p:sp>
      <p:sp>
        <p:nvSpPr>
          <p:cNvPr id="11" name="Rounded Rectangle 10"/>
          <p:cNvSpPr/>
          <p:nvPr/>
        </p:nvSpPr>
        <p:spPr>
          <a:xfrm>
            <a:off x="731520" y="4078224"/>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78224"/>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87952"/>
            <a:ext cx="10332720" cy="649224"/>
          </a:xfrm>
          <a:prstGeom prst="rect">
            <a:avLst/>
          </a:prstGeom>
          <a:noFill/>
        </p:spPr>
        <p:txBody>
          <a:bodyPr wrap="square" lIns="0" tIns="0" rIns="0" bIns="0">
            <a:spAutoFit/>
          </a:bodyPr>
          <a:lstStyle/>
          <a:p>
            <a:pPr>
              <a:spcAft>
                <a:spcPts val="200"/>
              </a:spcAft>
              <a:defRPr sz="1400" b="1">
                <a:solidFill>
                  <a:srgbClr val="38BDF8"/>
                </a:solidFill>
              </a:defRPr>
            </a:pPr>
            <a:r>
              <a:t>Proteksi Mass Assignment</a:t>
            </a:r>
          </a:p>
          <a:p>
            <a:pPr>
              <a:defRPr sz="1200">
                <a:solidFill>
                  <a:srgbClr val="F8FAFC"/>
                </a:solidFill>
              </a:defRPr>
            </a:pPr>
            <a:r>
              <a:t>Semua model menetapkan $fillable eksplisit dan hanya menerima $request-&gt;validated().</a:t>
            </a:r>
          </a:p>
        </p:txBody>
      </p:sp>
      <p:sp>
        <p:nvSpPr>
          <p:cNvPr id="14" name="Rounded Rectangle 13"/>
          <p:cNvSpPr/>
          <p:nvPr/>
        </p:nvSpPr>
        <p:spPr>
          <a:xfrm>
            <a:off x="731520" y="5111496"/>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111496"/>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21224"/>
            <a:ext cx="10332720" cy="649224"/>
          </a:xfrm>
          <a:prstGeom prst="rect">
            <a:avLst/>
          </a:prstGeom>
          <a:noFill/>
        </p:spPr>
        <p:txBody>
          <a:bodyPr wrap="square" lIns="0" tIns="0" rIns="0" bIns="0">
            <a:spAutoFit/>
          </a:bodyPr>
          <a:lstStyle/>
          <a:p>
            <a:pPr>
              <a:spcAft>
                <a:spcPts val="200"/>
              </a:spcAft>
              <a:defRPr sz="1400" b="1">
                <a:solidFill>
                  <a:srgbClr val="38BDF8"/>
                </a:solidFill>
              </a:defRPr>
            </a:pPr>
            <a:r>
              <a:t>Enkripsi &amp; Hashing</a:t>
            </a:r>
          </a:p>
          <a:p>
            <a:pPr>
              <a:defRPr sz="1200">
                <a:solidFill>
                  <a:srgbClr val="F8FAFC"/>
                </a:solidFill>
              </a:defRPr>
            </a:pPr>
            <a:r>
              <a:t>Password di-hash Bcrypt, atribut sensitif disembunyikan dengan attribute #[Hidden] model.</a:t>
            </a:r>
          </a:p>
        </p:txBody>
      </p:sp>
      <p:sp>
        <p:nvSpPr>
          <p:cNvPr id="17" name="TextBox 16"/>
          <p:cNvSpPr txBox="1"/>
          <p:nvPr/>
        </p:nvSpPr>
        <p:spPr>
          <a:xfrm>
            <a:off x="731520" y="6309360"/>
            <a:ext cx="10728655" cy="365760"/>
          </a:xfrm>
          <a:prstGeom prst="rect">
            <a:avLst/>
          </a:prstGeom>
          <a:noFill/>
        </p:spPr>
        <p:txBody>
          <a:bodyPr wrap="square" lIns="0" tIns="0" rIns="0" bIns="0">
            <a:spAutoFit/>
          </a:bodyPr>
          <a:lstStyle/>
          <a:p>
            <a:pPr>
              <a:defRPr sz="950">
                <a:solidFill>
                  <a:srgbClr val="94A3B8"/>
                </a:solidFill>
              </a:defRPr>
            </a:pPr>
            <a:r>
              <a:t>PT Astronova Enterprise • Backend Architecture Review &amp; Live Database Audit • Laravel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548640"/>
            <a:ext cx="73152" cy="1188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411480"/>
            <a:ext cx="10241280" cy="1371600"/>
          </a:xfrm>
          <a:prstGeom prst="rect">
            <a:avLst/>
          </a:prstGeom>
          <a:noFill/>
        </p:spPr>
        <p:txBody>
          <a:bodyPr wrap="square" lIns="0" tIns="0" rIns="0" bIns="0">
            <a:spAutoFit/>
          </a:bodyPr>
          <a:lstStyle/>
          <a:p>
            <a:pPr>
              <a:defRPr sz="1100" b="1">
                <a:solidFill>
                  <a:srgbClr val="34D399"/>
                </a:solidFill>
              </a:defRPr>
            </a:pPr>
            <a:r>
              <a:t>SLIDE 8 • TRANSFORMASI DINAMIS</a:t>
            </a:r>
          </a:p>
          <a:p>
            <a:pPr>
              <a:spcAft>
                <a:spcPts val="400"/>
              </a:spcAft>
              <a:defRPr sz="2500" b="1">
                <a:solidFill>
                  <a:srgbClr val="F8FAFC"/>
                </a:solidFill>
              </a:defRPr>
            </a:pPr>
            <a:r>
              <a:t>Dari Mock Data ke Database Dinamis</a:t>
            </a:r>
          </a:p>
          <a:p>
            <a:pPr>
              <a:defRPr sz="1300">
                <a:solidFill>
                  <a:srgbClr val="94A3B8"/>
                </a:solidFill>
              </a:defRPr>
            </a:pPr>
            <a:r>
              <a:t>Penyediaan Endpoint Agregasi &amp; Visualisasi Live</a:t>
            </a:r>
          </a:p>
        </p:txBody>
      </p:sp>
      <p:sp>
        <p:nvSpPr>
          <p:cNvPr id="5" name="Rounded Rectangle 4"/>
          <p:cNvSpPr/>
          <p:nvPr/>
        </p:nvSpPr>
        <p:spPr>
          <a:xfrm>
            <a:off x="731520" y="2011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21408"/>
            <a:ext cx="10332720" cy="649224"/>
          </a:xfrm>
          <a:prstGeom prst="rect">
            <a:avLst/>
          </a:prstGeom>
          <a:noFill/>
        </p:spPr>
        <p:txBody>
          <a:bodyPr wrap="square" lIns="0" tIns="0" rIns="0" bIns="0">
            <a:spAutoFit/>
          </a:bodyPr>
          <a:lstStyle/>
          <a:p>
            <a:pPr>
              <a:spcAft>
                <a:spcPts val="200"/>
              </a:spcAft>
              <a:defRPr sz="1400" b="1">
                <a:solidFill>
                  <a:srgbClr val="38BDF8"/>
                </a:solidFill>
              </a:defRPr>
            </a:pPr>
            <a:r>
              <a:t>Modul Dashboard Dinamis</a:t>
            </a:r>
          </a:p>
          <a:p>
            <a:pPr>
              <a:defRPr sz="1200">
                <a:solidFill>
                  <a:srgbClr val="F8FAFC"/>
                </a:solidFill>
              </a:defRPr>
            </a:pPr>
            <a:r>
              <a:t>GET /api/dashboard/stats menghitung count status, total klaim, dan agregat biaya per kategori.</a:t>
            </a:r>
          </a:p>
        </p:txBody>
      </p:sp>
      <p:sp>
        <p:nvSpPr>
          <p:cNvPr id="8" name="Rounded Rectangle 7"/>
          <p:cNvSpPr/>
          <p:nvPr/>
        </p:nvSpPr>
        <p:spPr>
          <a:xfrm>
            <a:off x="731520" y="3044952"/>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044952"/>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154680"/>
            <a:ext cx="10332720" cy="649224"/>
          </a:xfrm>
          <a:prstGeom prst="rect">
            <a:avLst/>
          </a:prstGeom>
          <a:noFill/>
        </p:spPr>
        <p:txBody>
          <a:bodyPr wrap="square" lIns="0" tIns="0" rIns="0" bIns="0">
            <a:spAutoFit/>
          </a:bodyPr>
          <a:lstStyle/>
          <a:p>
            <a:pPr>
              <a:spcAft>
                <a:spcPts val="200"/>
              </a:spcAft>
              <a:defRPr sz="1400" b="1">
                <a:solidFill>
                  <a:srgbClr val="38BDF8"/>
                </a:solidFill>
              </a:defRPr>
            </a:pPr>
            <a:r>
              <a:t>Modul Laporan Terfilter</a:t>
            </a:r>
          </a:p>
          <a:p>
            <a:pPr>
              <a:defRPr sz="1200">
                <a:solidFill>
                  <a:srgbClr val="F8FAFC"/>
                </a:solidFill>
              </a:defRPr>
            </a:pPr>
            <a:r>
              <a:t>GET /api/laporan/pengeluaran menghitung total biaya, transaksi, dan rata-rata real-time.</a:t>
            </a:r>
          </a:p>
        </p:txBody>
      </p:sp>
      <p:sp>
        <p:nvSpPr>
          <p:cNvPr id="11" name="Rounded Rectangle 10"/>
          <p:cNvSpPr/>
          <p:nvPr/>
        </p:nvSpPr>
        <p:spPr>
          <a:xfrm>
            <a:off x="731520" y="4078224"/>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78224"/>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87952"/>
            <a:ext cx="10332720" cy="649224"/>
          </a:xfrm>
          <a:prstGeom prst="rect">
            <a:avLst/>
          </a:prstGeom>
          <a:noFill/>
        </p:spPr>
        <p:txBody>
          <a:bodyPr wrap="square" lIns="0" tIns="0" rIns="0" bIns="0">
            <a:spAutoFit/>
          </a:bodyPr>
          <a:lstStyle/>
          <a:p>
            <a:pPr>
              <a:spcAft>
                <a:spcPts val="200"/>
              </a:spcAft>
              <a:defRPr sz="1400" b="1">
                <a:solidFill>
                  <a:srgbClr val="38BDF8"/>
                </a:solidFill>
              </a:defRPr>
            </a:pPr>
            <a:r>
              <a:t>Live Interactive Portal</a:t>
            </a:r>
          </a:p>
          <a:p>
            <a:pPr>
              <a:defRPr sz="1200">
                <a:solidFill>
                  <a:srgbClr val="F8FAFC"/>
                </a:solidFill>
              </a:defRPr>
            </a:pPr>
            <a:r>
              <a:t>Halaman / (welcome.blade.php) terhubung langsung ke API live dan menampilkan data aktual.</a:t>
            </a:r>
          </a:p>
        </p:txBody>
      </p:sp>
      <p:sp>
        <p:nvSpPr>
          <p:cNvPr id="14" name="Rounded Rectangle 13"/>
          <p:cNvSpPr/>
          <p:nvPr/>
        </p:nvSpPr>
        <p:spPr>
          <a:xfrm>
            <a:off x="731520" y="5111496"/>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111496"/>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21224"/>
            <a:ext cx="10332720" cy="649224"/>
          </a:xfrm>
          <a:prstGeom prst="rect">
            <a:avLst/>
          </a:prstGeom>
          <a:noFill/>
        </p:spPr>
        <p:txBody>
          <a:bodyPr wrap="square" lIns="0" tIns="0" rIns="0" bIns="0">
            <a:spAutoFit/>
          </a:bodyPr>
          <a:lstStyle/>
          <a:p>
            <a:pPr>
              <a:spcAft>
                <a:spcPts val="200"/>
              </a:spcAft>
              <a:defRPr sz="1400" b="1">
                <a:solidFill>
                  <a:srgbClr val="38BDF8"/>
                </a:solidFill>
              </a:defRPr>
            </a:pPr>
            <a:r>
              <a:t>Zero Fake Fallback</a:t>
            </a:r>
          </a:p>
          <a:p>
            <a:pPr>
              <a:defRPr sz="1200">
                <a:solidFill>
                  <a:srgbClr val="F8FAFC"/>
                </a:solidFill>
              </a:defRPr>
            </a:pPr>
            <a:r>
              <a:t>Saat database kosong, sistem mengembalikan count 0 &amp; list kosong []; tidak ada angka fiktif.</a:t>
            </a:r>
          </a:p>
        </p:txBody>
      </p:sp>
      <p:sp>
        <p:nvSpPr>
          <p:cNvPr id="17" name="TextBox 16"/>
          <p:cNvSpPr txBox="1"/>
          <p:nvPr/>
        </p:nvSpPr>
        <p:spPr>
          <a:xfrm>
            <a:off x="731520" y="6309360"/>
            <a:ext cx="10728655" cy="365760"/>
          </a:xfrm>
          <a:prstGeom prst="rect">
            <a:avLst/>
          </a:prstGeom>
          <a:noFill/>
        </p:spPr>
        <p:txBody>
          <a:bodyPr wrap="square" lIns="0" tIns="0" rIns="0" bIns="0">
            <a:spAutoFit/>
          </a:bodyPr>
          <a:lstStyle/>
          <a:p>
            <a:pPr>
              <a:defRPr sz="950">
                <a:solidFill>
                  <a:srgbClr val="94A3B8"/>
                </a:solidFill>
              </a:defRPr>
            </a:pPr>
            <a:r>
              <a:t>PT Astronova Enterprise • Backend Architecture Review &amp; Live Database Audit • Laravel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548640"/>
            <a:ext cx="73152" cy="1188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411480"/>
            <a:ext cx="10241280" cy="1371600"/>
          </a:xfrm>
          <a:prstGeom prst="rect">
            <a:avLst/>
          </a:prstGeom>
          <a:noFill/>
        </p:spPr>
        <p:txBody>
          <a:bodyPr wrap="square" lIns="0" tIns="0" rIns="0" bIns="0">
            <a:spAutoFit/>
          </a:bodyPr>
          <a:lstStyle/>
          <a:p>
            <a:pPr>
              <a:defRPr sz="1100" b="1">
                <a:solidFill>
                  <a:srgbClr val="34D399"/>
                </a:solidFill>
              </a:defRPr>
            </a:pPr>
            <a:r>
              <a:t>SLIDE 9 • BUKTI VERIFIKASI PENGUJIAN</a:t>
            </a:r>
          </a:p>
          <a:p>
            <a:pPr>
              <a:spcAft>
                <a:spcPts val="400"/>
              </a:spcAft>
              <a:defRPr sz="2500" b="1">
                <a:solidFill>
                  <a:srgbClr val="F8FAFC"/>
                </a:solidFill>
              </a:defRPr>
            </a:pPr>
            <a:r>
              <a:t>Hasil Pengujian Aktual (Test Suite)</a:t>
            </a:r>
          </a:p>
          <a:p>
            <a:pPr>
              <a:defRPr sz="1300">
                <a:solidFill>
                  <a:srgbClr val="94A3B8"/>
                </a:solidFill>
              </a:defRPr>
            </a:pPr>
            <a:r>
              <a:t>100% Lulus (Green) pada Lingkungan MySQL Testing</a:t>
            </a:r>
          </a:p>
        </p:txBody>
      </p:sp>
      <p:sp>
        <p:nvSpPr>
          <p:cNvPr id="5" name="Rounded Rectangle 4"/>
          <p:cNvSpPr/>
          <p:nvPr/>
        </p:nvSpPr>
        <p:spPr>
          <a:xfrm>
            <a:off x="731520" y="2011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21408"/>
            <a:ext cx="10332720" cy="649224"/>
          </a:xfrm>
          <a:prstGeom prst="rect">
            <a:avLst/>
          </a:prstGeom>
          <a:noFill/>
        </p:spPr>
        <p:txBody>
          <a:bodyPr wrap="square" lIns="0" tIns="0" rIns="0" bIns="0">
            <a:spAutoFit/>
          </a:bodyPr>
          <a:lstStyle/>
          <a:p>
            <a:pPr>
              <a:spcAft>
                <a:spcPts val="200"/>
              </a:spcAft>
              <a:defRPr sz="1400" b="1">
                <a:solidFill>
                  <a:srgbClr val="38BDF8"/>
                </a:solidFill>
              </a:defRPr>
            </a:pPr>
            <a:r>
              <a:t>Statistik Hasil Tes</a:t>
            </a:r>
          </a:p>
          <a:p>
            <a:pPr>
              <a:defRPr sz="1200">
                <a:solidFill>
                  <a:srgbClr val="F8FAFC"/>
                </a:solidFill>
              </a:defRPr>
            </a:pPr>
            <a:r>
              <a:t>Total: 99 Tests | 525 Assertions | Status: 100% PASSED | Durasi: ~17.9s.</a:t>
            </a:r>
          </a:p>
        </p:txBody>
      </p:sp>
      <p:sp>
        <p:nvSpPr>
          <p:cNvPr id="8" name="Rounded Rectangle 7"/>
          <p:cNvSpPr/>
          <p:nvPr/>
        </p:nvSpPr>
        <p:spPr>
          <a:xfrm>
            <a:off x="731520" y="3044952"/>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044952"/>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154680"/>
            <a:ext cx="10332720" cy="649224"/>
          </a:xfrm>
          <a:prstGeom prst="rect">
            <a:avLst/>
          </a:prstGeom>
          <a:noFill/>
        </p:spPr>
        <p:txBody>
          <a:bodyPr wrap="square" lIns="0" tIns="0" rIns="0" bIns="0">
            <a:spAutoFit/>
          </a:bodyPr>
          <a:lstStyle/>
          <a:p>
            <a:pPr>
              <a:spcAft>
                <a:spcPts val="200"/>
              </a:spcAft>
              <a:defRPr sz="1400" b="1">
                <a:solidFill>
                  <a:srgbClr val="38BDF8"/>
                </a:solidFill>
              </a:defRPr>
            </a:pPr>
            <a:r>
              <a:t>Pengujian Autentikasi</a:t>
            </a:r>
          </a:p>
          <a:p>
            <a:pPr>
              <a:defRPr sz="1200">
                <a:solidFill>
                  <a:srgbClr val="F8FAFC"/>
                </a:solidFill>
              </a:defRPr>
            </a:pPr>
            <a:r>
              <a:t>9 test mencakup login valid/invalid, bearer token header, logout revocation, proteksi 401.</a:t>
            </a:r>
          </a:p>
        </p:txBody>
      </p:sp>
      <p:sp>
        <p:nvSpPr>
          <p:cNvPr id="11" name="Rounded Rectangle 10"/>
          <p:cNvSpPr/>
          <p:nvPr/>
        </p:nvSpPr>
        <p:spPr>
          <a:xfrm>
            <a:off x="731520" y="4078224"/>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78224"/>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87952"/>
            <a:ext cx="10332720" cy="649224"/>
          </a:xfrm>
          <a:prstGeom prst="rect">
            <a:avLst/>
          </a:prstGeom>
          <a:noFill/>
        </p:spPr>
        <p:txBody>
          <a:bodyPr wrap="square" lIns="0" tIns="0" rIns="0" bIns="0">
            <a:spAutoFit/>
          </a:bodyPr>
          <a:lstStyle/>
          <a:p>
            <a:pPr>
              <a:spcAft>
                <a:spcPts val="200"/>
              </a:spcAft>
              <a:defRPr sz="1400" b="1">
                <a:solidFill>
                  <a:srgbClr val="38BDF8"/>
                </a:solidFill>
              </a:defRPr>
            </a:pPr>
            <a:r>
              <a:t>Pengujian Bisnis &amp; Keuangan</a:t>
            </a:r>
          </a:p>
          <a:p>
            <a:pPr>
              <a:defRPr sz="1200">
                <a:solidFill>
                  <a:srgbClr val="F8FAFC"/>
                </a:solidFill>
              </a:defRPr>
            </a:pPr>
            <a:r>
              <a:t>39 test mencakup workflow approval, auto-kalkulasi selisih, proteksi edit dokumen disetujui.</a:t>
            </a:r>
          </a:p>
        </p:txBody>
      </p:sp>
      <p:sp>
        <p:nvSpPr>
          <p:cNvPr id="14" name="Rounded Rectangle 13"/>
          <p:cNvSpPr/>
          <p:nvPr/>
        </p:nvSpPr>
        <p:spPr>
          <a:xfrm>
            <a:off x="731520" y="5111496"/>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111496"/>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21224"/>
            <a:ext cx="10332720" cy="649224"/>
          </a:xfrm>
          <a:prstGeom prst="rect">
            <a:avLst/>
          </a:prstGeom>
          <a:noFill/>
        </p:spPr>
        <p:txBody>
          <a:bodyPr wrap="square" lIns="0" tIns="0" rIns="0" bIns="0">
            <a:spAutoFit/>
          </a:bodyPr>
          <a:lstStyle/>
          <a:p>
            <a:pPr>
              <a:spcAft>
                <a:spcPts val="200"/>
              </a:spcAft>
              <a:defRPr sz="1400" b="1">
                <a:solidFill>
                  <a:srgbClr val="38BDF8"/>
                </a:solidFill>
              </a:defRPr>
            </a:pPr>
            <a:r>
              <a:t>Pengujian Dashboard &amp; Laporan</a:t>
            </a:r>
          </a:p>
          <a:p>
            <a:pPr>
              <a:defRPr sz="1200">
                <a:solidFill>
                  <a:srgbClr val="F8FAFC"/>
                </a:solidFill>
              </a:defRPr>
            </a:pPr>
            <a:r>
              <a:t>9 test memverifikasi integritas metrik database kosong vs database terisi data aktual.</a:t>
            </a:r>
          </a:p>
        </p:txBody>
      </p:sp>
      <p:sp>
        <p:nvSpPr>
          <p:cNvPr id="17" name="TextBox 16"/>
          <p:cNvSpPr txBox="1"/>
          <p:nvPr/>
        </p:nvSpPr>
        <p:spPr>
          <a:xfrm>
            <a:off x="731520" y="6309360"/>
            <a:ext cx="10728655" cy="365760"/>
          </a:xfrm>
          <a:prstGeom prst="rect">
            <a:avLst/>
          </a:prstGeom>
          <a:noFill/>
        </p:spPr>
        <p:txBody>
          <a:bodyPr wrap="square" lIns="0" tIns="0" rIns="0" bIns="0">
            <a:spAutoFit/>
          </a:bodyPr>
          <a:lstStyle/>
          <a:p>
            <a:pPr>
              <a:defRPr sz="950">
                <a:solidFill>
                  <a:srgbClr val="94A3B8"/>
                </a:solidFill>
              </a:defRPr>
            </a:pPr>
            <a:r>
              <a:t>PT Astronova Enterprise • Backend Architecture Review &amp; Live Database Audit • Laravel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548640"/>
            <a:ext cx="73152" cy="1188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411480"/>
            <a:ext cx="10241280" cy="1371600"/>
          </a:xfrm>
          <a:prstGeom prst="rect">
            <a:avLst/>
          </a:prstGeom>
          <a:noFill/>
        </p:spPr>
        <p:txBody>
          <a:bodyPr wrap="square" lIns="0" tIns="0" rIns="0" bIns="0">
            <a:spAutoFit/>
          </a:bodyPr>
          <a:lstStyle/>
          <a:p>
            <a:pPr>
              <a:defRPr sz="1100" b="1">
                <a:solidFill>
                  <a:srgbClr val="34D399"/>
                </a:solidFill>
              </a:defRPr>
            </a:pPr>
            <a:r>
              <a:t>SLIDE 10 • KESIMPULAN &amp; DEMONSTRASI</a:t>
            </a:r>
          </a:p>
          <a:p>
            <a:pPr>
              <a:spcAft>
                <a:spcPts val="400"/>
              </a:spcAft>
              <a:defRPr sz="2500" b="1">
                <a:solidFill>
                  <a:srgbClr val="F8FAFC"/>
                </a:solidFill>
              </a:defRPr>
            </a:pPr>
            <a:r>
              <a:t>Kesimpulan &amp; Demonstrasi Fitur</a:t>
            </a:r>
          </a:p>
          <a:p>
            <a:pPr>
              <a:defRPr sz="1300">
                <a:solidFill>
                  <a:srgbClr val="94A3B8"/>
                </a:solidFill>
              </a:defRPr>
            </a:pPr>
            <a:r>
              <a:t>Sistem Backend Handal, Terstandarisasi, &amp; Siap Produksi</a:t>
            </a:r>
          </a:p>
        </p:txBody>
      </p:sp>
      <p:sp>
        <p:nvSpPr>
          <p:cNvPr id="5" name="Rounded Rectangle 4"/>
          <p:cNvSpPr/>
          <p:nvPr/>
        </p:nvSpPr>
        <p:spPr>
          <a:xfrm>
            <a:off x="731520" y="2011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2011680"/>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21408"/>
            <a:ext cx="10332720" cy="649224"/>
          </a:xfrm>
          <a:prstGeom prst="rect">
            <a:avLst/>
          </a:prstGeom>
          <a:noFill/>
        </p:spPr>
        <p:txBody>
          <a:bodyPr wrap="square" lIns="0" tIns="0" rIns="0" bIns="0">
            <a:spAutoFit/>
          </a:bodyPr>
          <a:lstStyle/>
          <a:p>
            <a:pPr>
              <a:spcAft>
                <a:spcPts val="200"/>
              </a:spcAft>
              <a:defRPr sz="1400" b="1">
                <a:solidFill>
                  <a:srgbClr val="38BDF8"/>
                </a:solidFill>
              </a:defRPr>
            </a:pPr>
            <a:r>
              <a:t>Backend Siap Produksi</a:t>
            </a:r>
          </a:p>
          <a:p>
            <a:pPr>
              <a:defRPr sz="1200">
                <a:solidFill>
                  <a:srgbClr val="F8FAFC"/>
                </a:solidFill>
              </a:defRPr>
            </a:pPr>
            <a:r>
              <a:t>Memenuhi standar rekayasa perangkat lunak: clean code, DB transaction, &amp; keamanan berlapis.</a:t>
            </a:r>
          </a:p>
        </p:txBody>
      </p:sp>
      <p:sp>
        <p:nvSpPr>
          <p:cNvPr id="8" name="Rounded Rectangle 7"/>
          <p:cNvSpPr/>
          <p:nvPr/>
        </p:nvSpPr>
        <p:spPr>
          <a:xfrm>
            <a:off x="731520" y="3044952"/>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044952"/>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154680"/>
            <a:ext cx="10332720" cy="649224"/>
          </a:xfrm>
          <a:prstGeom prst="rect">
            <a:avLst/>
          </a:prstGeom>
          <a:noFill/>
        </p:spPr>
        <p:txBody>
          <a:bodyPr wrap="square" lIns="0" tIns="0" rIns="0" bIns="0">
            <a:spAutoFit/>
          </a:bodyPr>
          <a:lstStyle/>
          <a:p>
            <a:pPr>
              <a:spcAft>
                <a:spcPts val="200"/>
              </a:spcAft>
              <a:defRPr sz="1400" b="1">
                <a:solidFill>
                  <a:srgbClr val="38BDF8"/>
                </a:solidFill>
              </a:defRPr>
            </a:pPr>
            <a:r>
              <a:t>Langkah Demo Langsung</a:t>
            </a:r>
          </a:p>
          <a:p>
            <a:pPr>
              <a:defRPr sz="1200">
                <a:solidFill>
                  <a:srgbClr val="F8FAFC"/>
                </a:solidFill>
              </a:defRPr>
            </a:pPr>
            <a:r>
              <a:t>1. Login POST /api/login -&gt; 2. Buka Live Portal http://localhost:8000 -&gt; 3. Cek stats live.</a:t>
            </a:r>
          </a:p>
        </p:txBody>
      </p:sp>
      <p:sp>
        <p:nvSpPr>
          <p:cNvPr id="11" name="Rounded Rectangle 10"/>
          <p:cNvSpPr/>
          <p:nvPr/>
        </p:nvSpPr>
        <p:spPr>
          <a:xfrm>
            <a:off x="731520" y="4078224"/>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78224"/>
            <a:ext cx="73152" cy="86868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87952"/>
            <a:ext cx="10332720" cy="649224"/>
          </a:xfrm>
          <a:prstGeom prst="rect">
            <a:avLst/>
          </a:prstGeom>
          <a:noFill/>
        </p:spPr>
        <p:txBody>
          <a:bodyPr wrap="square" lIns="0" tIns="0" rIns="0" bIns="0">
            <a:spAutoFit/>
          </a:bodyPr>
          <a:lstStyle/>
          <a:p>
            <a:pPr>
              <a:spcAft>
                <a:spcPts val="200"/>
              </a:spcAft>
              <a:defRPr sz="1400" b="1">
                <a:solidFill>
                  <a:srgbClr val="38BDF8"/>
                </a:solidFill>
              </a:defRPr>
            </a:pPr>
            <a:r>
              <a:t>Verifikasi Dinamis</a:t>
            </a:r>
          </a:p>
          <a:p>
            <a:pPr>
              <a:defRPr sz="1200">
                <a:solidFill>
                  <a:srgbClr val="F8FAFC"/>
                </a:solidFill>
              </a:defRPr>
            </a:pPr>
            <a:r>
              <a:t>Input pengeluaran baru di portal -&gt; angka KPI dan laporan statistik langsung terupdate instan!</a:t>
            </a:r>
          </a:p>
        </p:txBody>
      </p:sp>
      <p:sp>
        <p:nvSpPr>
          <p:cNvPr id="14" name="Rounded Rectangle 13"/>
          <p:cNvSpPr/>
          <p:nvPr/>
        </p:nvSpPr>
        <p:spPr>
          <a:xfrm>
            <a:off x="731520" y="5111496"/>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111496"/>
            <a:ext cx="73152" cy="868680"/>
          </a:xfrm>
          <a:prstGeom prst="rect">
            <a:avLst/>
          </a:prstGeom>
          <a:solidFill>
            <a:srgbClr val="A78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21224"/>
            <a:ext cx="10332720" cy="649224"/>
          </a:xfrm>
          <a:prstGeom prst="rect">
            <a:avLst/>
          </a:prstGeom>
          <a:noFill/>
        </p:spPr>
        <p:txBody>
          <a:bodyPr wrap="square" lIns="0" tIns="0" rIns="0" bIns="0">
            <a:spAutoFit/>
          </a:bodyPr>
          <a:lstStyle/>
          <a:p>
            <a:pPr>
              <a:spcAft>
                <a:spcPts val="200"/>
              </a:spcAft>
              <a:defRPr sz="1400" b="1">
                <a:solidFill>
                  <a:srgbClr val="38BDF8"/>
                </a:solidFill>
              </a:defRPr>
            </a:pPr>
            <a:r>
              <a:t>Sesi Tanya Jawab</a:t>
            </a:r>
          </a:p>
          <a:p>
            <a:pPr>
              <a:defRPr sz="1200">
                <a:solidFill>
                  <a:srgbClr val="F8FAFC"/>
                </a:solidFill>
              </a:defRPr>
            </a:pPr>
            <a:r>
              <a:t>Terima kasih atas perhatian Dewan Penguji &amp; Rekan-Rekan Siswa SMK RPL!</a:t>
            </a:r>
          </a:p>
        </p:txBody>
      </p:sp>
      <p:sp>
        <p:nvSpPr>
          <p:cNvPr id="17" name="TextBox 16"/>
          <p:cNvSpPr txBox="1"/>
          <p:nvPr/>
        </p:nvSpPr>
        <p:spPr>
          <a:xfrm>
            <a:off x="731520" y="6309360"/>
            <a:ext cx="10728655" cy="365760"/>
          </a:xfrm>
          <a:prstGeom prst="rect">
            <a:avLst/>
          </a:prstGeom>
          <a:noFill/>
        </p:spPr>
        <p:txBody>
          <a:bodyPr wrap="square" lIns="0" tIns="0" rIns="0" bIns="0">
            <a:spAutoFit/>
          </a:bodyPr>
          <a:lstStyle/>
          <a:p>
            <a:pPr>
              <a:defRPr sz="950">
                <a:solidFill>
                  <a:srgbClr val="94A3B8"/>
                </a:solidFill>
              </a:defRPr>
            </a:pPr>
            <a:r>
              <a:t>PT Astronova Enterprise • Backend Architecture Review &amp; Live Database Audit • Laravel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